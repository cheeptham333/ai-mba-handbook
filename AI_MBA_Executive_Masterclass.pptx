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0000"/>
                </a:solidFill>
                <a:latin typeface="Arial"/>
              </a:defRPr>
            </a:pPr>
            <a:r>
              <a:t>EXECUTIVE MASTERCLASS | STRATEGIC WORKSHOP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F172A"/>
                </a:solidFill>
                <a:latin typeface="Arial"/>
              </a:defRPr>
            </a:pPr>
            <a:r>
              <a:t>AI MBA: ผู้นำกลยุทธ์ยุค AI</a:t>
            </a:r>
            <a:br/>
            <a:r>
              <a:t>(Strategic Leadership)</a:t>
            </a:r>
          </a:p>
          <a:p>
            <a:pPr>
              <a:spcBef>
                <a:spcPts val="1200"/>
              </a:spcBef>
              <a:defRPr sz="1800" b="1">
                <a:solidFill>
                  <a:srgbClr val="475569"/>
                </a:solidFill>
                <a:latin typeface="Arial"/>
              </a:defRPr>
            </a:pPr>
            <a:r>
              <a:t>ผสานแก่นคิด 4 สถาบันธุรกิจระดับโลก: HBS • Wharton • Stanford • MIT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97680"/>
            <a:ext cx="10362895" cy="17373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480560"/>
            <a:ext cx="98142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B0000"/>
                </a:solidFill>
                <a:latin typeface="Arial"/>
              </a:defRPr>
            </a:pPr>
            <a:r>
              <a:t>อาจารย์ชีพธรรม คำวิเศษณ์</a:t>
            </a:r>
          </a:p>
          <a:p>
            <a:pPr>
              <a:spcBef>
                <a:spcPts val="6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โค้ชชิ่ง AI MBA อันดับ 1 ของไทย (ร่วมกับทีมงาน FastAI)</a:t>
            </a:r>
            <a:br/>
            <a:r>
              <a:t>คู่มือประกอบการอบรมและฝึกปฏิบัติการ (AI MBA Prompt Engineering Lab: RTCF Studio)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1: THE EXECUTIVE PARADIGM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30 ปีแห่งคลื่นเทคโนโลยี: ต้นทุนมหาศาลของการ 'รอนิ่ง'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[2539] คลื่นลูกที่ 1: อินเทอร์เน็ต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ยุคโมเด็มต่อเน็ตเสียงแหลม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ผู้บริหารบอก: 'เรื่องของไอที'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ผลลัพธ์: คนเริ่มก่อนกวาดตลาด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7778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[2553] คลื่นลูกที่ 2: มือถือ &amp; คลาวด์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สมาร์ทโฟนเปลี่ยนพฤติกรรม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ธุรกิจดั้งเดิมถูกสตาร์ทอัพแซง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ลูกค้าต้องการบริการ 24 ชม.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5436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[2569] คลื่นลูกที่ 3: ปัญญาประดิษฐ์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Harvard บังคับ MBA เรียน AI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วางแผนกลยุทธ์ 'รายสัปดาห์'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ความเร็วคือความได้เปรียบเดียว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1: THE EXECUTIVE PARADIGM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ผ่าตัด 3 ข้ออ้างของผู้นำ: กับดักที่ทำให้องค์กรแพ้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[กับดัก 1] 'เป็นเรื่องของฝ่ายไอที'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ความจริง: ผู้นำไม่ยอมเข้าใจ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AI ต้องเริ่มจากโจทย์ธุรกิจ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C-Suite ต้องนำทัพเอง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7778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C1515"/>
                </a:solidFill>
                <a:latin typeface="Arial"/>
              </a:defRPr>
            </a:pPr>
            <a:r>
              <a:t>[กับดัก 2] 'ลูกค้าเรายังไม่ใช้หรอก'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ความจริง: ประเมินลูกค้าต่ำไป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ลูกค้าเปลี่ยนไปหาคู่แข่งทันที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ต้องทดสอบตลาดใน 7 วัน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5436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7A0019"/>
                </a:solidFill>
                <a:latin typeface="Arial"/>
              </a:defRPr>
            </a:pPr>
            <a:r>
              <a:t>[กับดัก 3] 'รอให้นิ่งก่อนค่อยลงทุน'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ความจริง: ในเทคโนโลยี 'นิ่ง = ตาย'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AI พัฒนาแบบก้าวกระโดด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ทดลองผิดพลาดด้วยต้นทุนต่ำ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1: THE EXECUTIVE PARADIGM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ฉันทามติ 4 สถาบันธุรกิจโลก (HBS • Wharton • Stanford • MIT)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[HBS] Harvard Business School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เน้น Case Method และการตัดสินใจ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AI คือคู่ซ้อมกลยุทธ์จำลองวิกฤต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93852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[WHARTON] The Wharton School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เน้นตัวเลข Unit Economics &amp; ROI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AI เพิ่มพลังคนแบบ Centaur/Cyborg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1596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C1515"/>
                </a:solidFill>
                <a:latin typeface="Arial"/>
              </a:defRPr>
            </a:pPr>
            <a:r>
              <a:t>[STANFORD] Stanford GSB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เน้นความเร็ว Silicon Valley Agility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สร้างนวัตกรรมทดสอบตลาดใน 7 วัน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411480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31596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7A0019"/>
                </a:solidFill>
                <a:latin typeface="Arial"/>
              </a:defRPr>
            </a:pPr>
            <a:r>
              <a:t>[MIT] MIT Sloan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เน้น System Dynamics &amp; Automation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ใช้ AI Agents ขจัดคอขวดองค์กร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0000"/>
                </a:solidFill>
                <a:latin typeface="Arial"/>
              </a:defRPr>
            </a:pPr>
            <a:r>
              <a:t>กฎเหล็กข้อที่หนึ่งของผู้นำ (THE IRON LAW)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F172A"/>
                </a:solidFill>
                <a:latin typeface="Arial"/>
              </a:defRPr>
            </a:pPr>
            <a:r>
              <a:t>“AI ไม่ได้มาแทนที่ผู้นำ...</a:t>
            </a:r>
            <a:br/>
            <a:r>
              <a:t>แต่ผู้นำที่ใช้ AI</a:t>
            </a:r>
            <a:br/>
            <a:r>
              <a:t>จะเข้ามาแทนที่ผู้นำที่ไม่ใช้!”</a:t>
            </a:r>
          </a:p>
          <a:p>
            <a:pPr>
              <a:spcBef>
                <a:spcPts val="1200"/>
              </a:spcBef>
              <a:defRPr sz="1800" b="1">
                <a:solidFill>
                  <a:srgbClr val="B45309"/>
                </a:solidFill>
                <a:latin typeface="Arial"/>
              </a:defRPr>
            </a:pPr>
            <a:r>
              <a:t>หน้าที่ของผู้นำคือการเป็น 'Conductor' ควบคุมวงออร์เคสตราปัญญาประดิษฐ์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2: HARVARD BUSINESS SCHOOL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Case Method: เปลี่ยน AI เป็นคู่ซ้อมกลยุทธ์ (Sparring Partner)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81447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724247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4748B"/>
                </a:solidFill>
                <a:latin typeface="Arial"/>
              </a:defRPr>
            </a:pPr>
            <a:r>
              <a:t>[เดิม] ห้องสัมมนาเดิม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อ่านเอกสารเคส 20 หน้า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รอเข้าห้องสัมมนาปีละครั้ง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มีคนช่วยถกเถียงจำกัด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181447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938528"/>
            <a:ext cx="4724247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[ใหม่] AI Sparring Partner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สั่ง AI สวมบท 'กรรมการบอร์ดสายโหด'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ท้าทายทุกสมมติฐานใน 30 วินาที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หาจุดบอดก่อนเสนอบอร์ดจริง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2: HARVARD BUSINESS SCHOOL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Five Forces ยุคใหม่: เมื่อพลังการแข่งขันเปลี่ยนไป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[1] ผู้เล่นหน้าใหม่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สตาร์ทอัพ 3 คน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สร้างผลงานเทียบชั้น 300 คน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93852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[2] อำนาจลูกค้า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ลูกค้าใช้ AI เช็กราคาเรียลไทม์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พร้อมเปลี่ยนใจทันที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1596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[3] สินค้าทดแทน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AI ทำแทนบริการดั้งเดิม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คู่แข่งข้ามสายพันธุ์โผล่เร็ว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411480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31596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[4] อำนาจซัพพลายเออร์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การพึ่งพาโมเดล AI ยักษ์ใหญ่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ต้องคุมต้นทุน API และข้อมูล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2: HARVARD BUSINESS SCHOOL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Mega-Prompt บอร์ดที่ปรึกษา 4 สถาบัน (บทที่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480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0000"/>
                </a:solidFill>
                <a:latin typeface="Arial"/>
              </a:defRPr>
            </a:pPr>
            <a:r>
              <a:t>⚡ LIVE PROMPT LAB ENGINE: 4-SCHOOL BOARD OF ADVISORS PROMPT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บทบาท: คุณคือบอร์ดที่ปรึกษา 4 สถาบัน (HBS, Wharton, Stanford, MIT)</a:t>
            </a:r>
            <a:br/>
            <a:r>
              <a:t>ธุรกิจของเรา: [ใส่ประเภทธุรกิจและปัญหาที่กำลังเจอ]</a:t>
            </a:r>
            <a:br/>
            <a:br/>
            <a:r>
              <a:t>คำสั่งวิเคราะห์:</a:t>
            </a:r>
            <a:br/>
            <a:r>
              <a:t>1. [HBS]: ชี้จุดบอดและประเด็นขัดแย้งของผู้นำ (Devil's Advocate)</a:t>
            </a:r>
            <a:br/>
            <a:r>
              <a:t>2. [Wharton]: คำนวณความเสี่ยงและ Unit Economics ทางการเงิน</a:t>
            </a:r>
            <a:br/>
            <a:r>
              <a:t>3. [Stanford]: เสนอทางเลือกนวัตกรรมทดสอบตลาดใน 7 วัน</a:t>
            </a:r>
            <a:br/>
            <a:r>
              <a:t>4. [MIT Sloan]: วิเคราะห์คอขวดและออกแบบระบบ Automation</a:t>
            </a:r>
            <a:br/>
            <a:r>
              <a:t>สรุปเป็นมติที่ประชุมบอร์ด 1 ย่อหน้าแบบฟันธง!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2: HARVARD BUSINESS SCHOOL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Workshop: ตรวจจับ 'จุดบอดสมมติฐาน' ธุรกิจตนเอง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[ขั้น 1] 1. เขียนสมมติฐานเดิม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สิ่งที่เชื่อมา 5-10 ปี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เช่น: 'ลูกค้าต้องการคุยกับคนเท่านั้น'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เช่น: 'งานนี้ต้องใช้คนทำเป็นวัน'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7778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[ขั้น 2] 2. รัน AI Stress-Test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ป้อนเข้า AI MBA Prompt Lab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สั่ง AI หา 3 เหตุผลที่จุดนี้จะพัง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สแกนหาคู่แข่งหน้าใหม่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5436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47857"/>
                </a:solidFill>
                <a:latin typeface="Arial"/>
              </a:defRPr>
            </a:pPr>
            <a:r>
              <a:t>[ขั้น 3] 3. กำหนด Action ชี้ขาด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ปรับทิศทางกลยุทธ์ (Pivot)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ออกแบบโครงการนำร่อง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บรรจุเข้าวาระการประชุมสัปดาห์นี้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3: THE WHARTON SCHOOL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Centaur vs Cyborg: 2 วิธีทำงานร่วมกับ AI ที่ได้ผลสูงสุด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81447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724247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[CENTAUR] โหมดเซนทอร์ (แบ่งงานขาด)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แบ่งหน้าที่ชัดเจน: คนคิดกลยุทธ์ / AI คำนวณข้อมูล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คนเจรจาและตัดสินใจ / AI ร่างแบบจำลอง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เหมาะกับงานที่ต้องการความแม่นยำสูง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181447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938528"/>
            <a:ext cx="4724247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369A1"/>
                </a:solidFill>
                <a:latin typeface="Arial"/>
              </a:defRPr>
            </a:pPr>
            <a:r>
              <a:t>[CYBORG] โหมดไซบอร์ก (คิดร่วมกันเรียลไทม์)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คนคิดไอเดีย ➔ AI เสนอต่อยอด ➔ คนตบกรอบ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เส้นแบ่งระหว่างคนกับ AI กลืนเป็นเนื้อเดียว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เหมาะกับการระดมความคิดและแก้โจทย์ยาก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3: THE WHARTON SCHOOL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Unit Economics &amp; ROI: เปลี่ยน AI ให้เป็นผลกำไร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[ต้นทุน] 1. ต้นทุนลดลง 90%+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ลดเวลาทำรายงานจาก 40 ชม. ➔ 15 นาที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ต้นทุนผลิตสื่อลดฮวบ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ขยายขนาดได้แบบ Zero Marginal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7778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47857"/>
                </a:solidFill>
                <a:latin typeface="Arial"/>
              </a:defRPr>
            </a:pPr>
            <a:r>
              <a:t>[รายได้] 2. รายได้เพิ่มขึ้น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บริการเฉพาะบุคคล (Hyper-Personal)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อัตราปิดการขายเพิ่มขึ้น 30-50%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เปิดตัวสินค้าใหม่เร็วกว่าเดิม 4 เท่า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5436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B45309"/>
                </a:solidFill>
                <a:latin typeface="Arial"/>
              </a:defRPr>
            </a:pPr>
            <a:r>
              <a:t>[ผลตอบแทน] 3. คืนทุนใน 30 วัน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ROI = มูลค่าเวลาที่ประหยัดได้ / ค่าเครื่องมือ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ระยะเวลาคืนทุนเฉลี่ยต่ำกว่า 1 เดือน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ป้องกันความเสี่ยงจากการถูกแซง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3: THE WHARTON SCHOOL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Prompt ทดสอบความเสี่ยงทางการเงินแบบ Wharton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480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0000"/>
                </a:solidFill>
                <a:latin typeface="Arial"/>
              </a:defRPr>
            </a:pPr>
            <a:r>
              <a:t>⚡ LIVE PROMPT LAB ENGINE: WHARTON FINANCIAL STRESS-TEST ENGINE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บทบาท: คุณคือ CFO อาวุโสแห่ง The Wharton School</a:t>
            </a:r>
            <a:br/>
            <a:r>
              <a:t>โจทย์การลงทุน: [ระบุ เช่น ขยายสาขา / เปิดตัวสินค้าใหม่ / ลงทุนระบบ AI]</a:t>
            </a:r>
            <a:br/>
            <a:r>
              <a:t>ตัวเลขปัจจุบัน: ยอดขาย [ระบุ], ต้นทุนคงที่ [ระบุ], อัตรากำไร [ระบุ]</a:t>
            </a:r>
            <a:br/>
            <a:br/>
            <a:r>
              <a:t>คำสั่งปฏิบัติการ:</a:t>
            </a:r>
            <a:br/>
            <a:r>
              <a:t>1. วิเคราะห์จุดคุ้มทุน 3 สถานการณ์ (Best Case, Base Case, Worst Case)</a:t>
            </a:r>
            <a:br/>
            <a:r>
              <a:t>2. คำนวณอัตราส่วนความคุ้มค่า CLV ต่อ CAC Ratio</a:t>
            </a:r>
            <a:br/>
            <a:r>
              <a:t>3. Stress-Test: หากคู่แข่งลดราคา 20% ธุรกิจจะมีกระแสเงินสดเหลือเท่าไร?</a:t>
            </a:r>
            <a:br/>
            <a:r>
              <a:t>4. สรุปคำแนะนำ 3 ข้อที่ CFO ต้องแจ้งบอร์ดบริหารทันที!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3: THE WHARTON SCHOOL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AI Governance &amp; ความปลอดภัยข้อมูลองค์กร (PDPA)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[ข้อมูลลับ] 1. รักษาความลับทางการค้า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ห้ามใส่รหัสผ่านหรือความลับลง Public AI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เปิดโหมด Enterprise ไม่ให้ AI นำข้อมูลไปเทรน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ปฏิบัติตามกฎหมาย PDPA เคร่งครัด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7778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B45309"/>
                </a:solidFill>
                <a:latin typeface="Arial"/>
              </a:defRPr>
            </a:pPr>
            <a:r>
              <a:t>[ความถูกต้อง] 2. Trust but Verify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ตรวจสอบตัวเลขสำคัญและข้อกฎหมายเสมอ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กำหนดให้มีคนอนุมัติขั้นสุดท้าย (Human in Loop)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เชื่อมโยงกับฐานข้อมูลจริงของบริษัท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5436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[นโยบาย] 3. สร้างคู่มือ AI องค์กร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ออกระเบียบการใช้ AI ที่ชัดเจนให้พนักงาน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อบรมเรื่องลิขสิทธิ์และจริยธรรม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สร้างสิ่งแวดล้อมที่ปลอดภัยในการทดลอง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4: STANFORD GSB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Lean AI Sprint: เปลี่ยนแผน 6 เดือน สู่การทดสอบใน 7 วัน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81447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724247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4748B"/>
                </a:solidFill>
                <a:latin typeface="Arial"/>
              </a:defRPr>
            </a:pPr>
            <a:r>
              <a:t>[แบบเดิม] วางแผนแบบเดิม (6 เดือน)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ทำวิจัยตลาดนาน 3 เดือน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พัฒนาสินค้านาน 6 เดือน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งบหมดก่อนรู้ว่าตลาดต้องการไหม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181447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938528"/>
            <a:ext cx="4724247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C1515"/>
                </a:solidFill>
                <a:latin typeface="Arial"/>
              </a:defRPr>
            </a:pPr>
            <a:r>
              <a:t>[แบบ STANFORD] Lean AI Sprint (7 วัน)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ใช้ AI จำลองลูกค้า 100 คนใน 1 ชม.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ปล่อยหน้าเว็บทดสอบ Demand ใน 24 ชม.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รู้ผลจริงและปรับทิศทางใน 7 วัน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4: STANFORD GSB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Blue Ocean ERRC: กลยุทธ์ฉีกหนีสงครามราคา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[E] 1. ตัดทิ้ง (Eliminate)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ตัดสิ่งสิ้นเปลืองที่ลูกค้าไม่ต้องการแล้ว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เช่น พื้นที่หน้าร้านขนาดใหญ่ที่คนไม่นั่ง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93852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B45309"/>
                </a:solidFill>
                <a:latin typeface="Arial"/>
              </a:defRPr>
            </a:pPr>
            <a:r>
              <a:t>[R] 2. ลดลง (Reduce)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ลดสิ่งที่มีต้นทุนสูงเกินจำเป็น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เช่น สต็อกค้างและการยิงแอดหว่าน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1596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[R] 3. เพิ่มขึ้น (Raise)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ยกระดับสิ่งที่ลูกค้าให้คุณค่าแท้จริง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เช่น ความเร็วในการส่งมอบและคุณภาพ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411480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31596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369A1"/>
                </a:solidFill>
                <a:latin typeface="Arial"/>
              </a:defRPr>
            </a:pPr>
            <a:r>
              <a:t>[C] 4. สร้างสรรค์ (Create)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สร้างคุณค่าใหม่ที่คู่แข่งไม่เคยมี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เช่น ระบบ AI แนะนำสินค้าเฉพาะบุคคล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4: STANFORD GSB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Prompt น่านน้ำสีคราม &amp; นวัตกรรม 7 วัน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480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0000"/>
                </a:solidFill>
                <a:latin typeface="Arial"/>
              </a:defRPr>
            </a:pPr>
            <a:r>
              <a:t>⚡ LIVE PROMPT LAB ENGINE: STANFORD BLUE OCEAN &amp; 7-DAY SPRINT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บทบาท: คุณคือ Silicon Valley VC และอาจารย์นวัตกรรมแห่ง Stanford GSB</a:t>
            </a:r>
            <a:br/>
            <a:r>
              <a:t>ธุรกิจของเรา: [ระบุ เช่น คลินิกสุขภาพ / คาเฟ่ / ขนส่ง / โรงงาน] ติดกับดักตัดราคา</a:t>
            </a:r>
            <a:br/>
            <a:br/>
            <a:r>
              <a:t>คำสั่งสร้างนวัตกรรม:</a:t>
            </a:r>
            <a:br/>
            <a:r>
              <a:t>1. ร่างตาราง ERRC Grid เพื่อฉีกหนีสงครามราคาในตลาดเดิม</a:t>
            </a:r>
            <a:br/>
            <a:r>
              <a:t>2. เสนอ 3 ไอเดียบริการใหม่แบบ 'Zero Marginal Cost' ขับเคลื่อนด้วย AI</a:t>
            </a:r>
            <a:br/>
            <a:r>
              <a:t>3. วาง Action Plan 7 วัน (Day 1 - 7) ด้วยงบประมาณไม่เกิน 5,000 บาท!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4: STANFORD GSB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บันได 3 ขั้นสร้างต้นแบบเร็ว (Minimum Viable Intelligence)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C1515"/>
                </a:solidFill>
                <a:latin typeface="Arial"/>
              </a:defRPr>
            </a:pPr>
            <a:r>
              <a:t>[ขั้น 1] Layer 1: Prompt Prototype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เขียน Mega-Prompt ใน Prompt Lab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ทดสอบกับโจทย์จริง 20 เคส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ได้ผลแม่นยำสม่ำเสมอ &gt; 90%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7778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369A1"/>
                </a:solidFill>
                <a:latin typeface="Arial"/>
              </a:defRPr>
            </a:pPr>
            <a:r>
              <a:t>[ขั้น 2] Layer 2: Custom Agent / SOP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อัปโหลดคู่มือและระเบียบปฏิบัติบริษัท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กำหนดแนวทางป้องกันความเสี่ยง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ทดลองใช้ภายในทีมงาน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5436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47857"/>
                </a:solidFill>
                <a:latin typeface="Arial"/>
              </a:defRPr>
            </a:pPr>
            <a:r>
              <a:t>[ขั้น 3] Layer 3: Scaled Deployment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เชื่อมต่อ Line OA / CRM บริษัท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ให้บริการลูกค้าอัตโนมัติ 24 ชม.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เก็บฟีดแบ็กมาปรับปรุงต่อเนื่อง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5: MIT SLOAN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System Dynamics: ขจัด 3 คอขวดใหญ่ขององค์กร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[คอขวด 1] คอขวดการอนุมัติ (Approval Lag)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ผู้บริหารต้องเซ็นทุกเรื่องจนงานติดหล่ม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แก้ด้วย: AI คัดกรองงาน 80% ให้ตัดสินใจเฉพาะเคสสำคัญ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7778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[คอขวด 2] คอขวดการส่งต่อข้อมูล (Silos)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ข้อมูลยอดขายไม่เชื่อมฝ่ายผลิตและการตลาด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แก้ด้วย: AI เชื่อมโยงและสรุปรายงานข้ามแผนกอัตโนมัติ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5436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47857"/>
                </a:solidFill>
                <a:latin typeface="Arial"/>
              </a:defRPr>
            </a:pPr>
            <a:r>
              <a:t>[คอขวด 3] คอขวดการผลิตเนื้อหา (Content)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ผลิตสื่อและคอนเทนต์ไม่ทันตลาด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แก้ด้วย: ระบบ AI สร้างร่างแรกให้ทีมงานต่อยอดใน 5 นาที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5: MIT SLOAN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Multi-Agent Workflows: อนาคตทีมงาน AI อัตโนมัติ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369A1"/>
                </a:solidFill>
                <a:latin typeface="Arial"/>
              </a:defRPr>
            </a:pPr>
            <a:r>
              <a:t>[AGENT 1] 1. Data Scout (หน่วยสอดแนม)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ดึงข้อมูลยอดขายและรีวิวลูกค้า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ตรวจจับสัญญาณผิดปกติและโอกาสใหม่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ส่งสรุปประเด็นร้อนให้ Agent 2 ทันที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7778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7A0019"/>
                </a:solidFill>
                <a:latin typeface="Arial"/>
              </a:defRPr>
            </a:pPr>
            <a:r>
              <a:t>[AGENT 2] 2. Strategist (หน่วยวางแผน)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นำข้อมูลมาแมปเข้า SWOT และ BCG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ร่างทางเลือกกลยุทธ์ 3 ข้อพร้อมตัวเลข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ส่งต่อให้ Agent 3 จัดเตรียมแผนงาน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5436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47857"/>
                </a:solidFill>
                <a:latin typeface="Arial"/>
              </a:defRPr>
            </a:pPr>
            <a:r>
              <a:t>[AGENT 3] 3. Commander (หน่วยปฏิบัติการ)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กระจายงานลงระบบบริหารโครงการ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แจ้งเตือนผู้บริหารเฉพาะจุดที่ต้องอนุมัติ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ติดตามผลการทำงานอัตโนมัติ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5: MIT SLOAN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Prompt: AI Chief of Staff ปลดล็อกเวลาผู้บริหาร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480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0000"/>
                </a:solidFill>
                <a:latin typeface="Arial"/>
              </a:defRPr>
            </a:pPr>
            <a:r>
              <a:t>⚡ LIVE PROMPT LAB ENGINE: MIT CHIEF OF STAFF BOTTLENECK REMOVER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บทบาท: คุณคือ Chief of Staff ส่วนตัวของ CEO ผู้เชี่ยวชาญด้านระบบแห่ง MIT Sloan</a:t>
            </a:r>
            <a:br/>
            <a:r>
              <a:t>กระบวนการทำงานปัจจุบัน: [ระบุ 5 ขั้นตอนหลัก และจุดที่งานติดขัดล่าช้า]</a:t>
            </a:r>
            <a:br/>
            <a:br/>
            <a:r>
              <a:t>คำสั่งปฏิบัติการ:</a:t>
            </a:r>
            <a:br/>
            <a:r>
              <a:t>1. ชี้จุดสูญเปล่า (Waste Time) และออกแบบ Flow การทำงานใหม่</a:t>
            </a:r>
            <a:br/>
            <a:r>
              <a:t>2. ออกแบบระบบ AI คัดกรองงานอัตโนมัติ 80% ให้เสร็จใน 5 นาที</a:t>
            </a:r>
            <a:br/>
            <a:r>
              <a:t>3. กำหนดเกณฑ์ชัดเจนว่าเรื่องใดต้องส่งถึงมือผู้บริหารอนุมัติ</a:t>
            </a:r>
            <a:br/>
            <a:r>
              <a:t>4. ร่างคู่มือปฏิบัติงาน (SOP) ใหม่ 1 หน้ากระดาษให้ทีมงานเริ่มใช้พรุ่งนี้!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5: MIT SLOAN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บันได 5 ขั้น สู่องค์กรอัตโนมัติ (Autonomous Enterprise)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4748B"/>
                </a:solidFill>
                <a:latin typeface="Arial"/>
              </a:defRPr>
            </a:pPr>
            <a:r>
              <a:t>[L1] L1: Manual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แรงคน 100%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ใช้ AI สรุปงานเป็นครั้งคราว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93852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[L2] L2: Assisted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พนักงานใช้ AI ช่วยงานส่วนตัว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เริ่มมีคลัง Prompt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1596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C1515"/>
                </a:solidFill>
                <a:latin typeface="Arial"/>
              </a:defRPr>
            </a:pPr>
            <a:r>
              <a:t>[L3] L3: Automated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ฝัง AI ในขั้นตอนทำงานแผนก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ลดเวลาทำงาน 50%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411480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31596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7A0019"/>
                </a:solidFill>
                <a:latin typeface="Arial"/>
              </a:defRPr>
            </a:pPr>
            <a:r>
              <a:t>[L4] L4: Integrated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AI เชื่อมโยงข้ามแผนกอัตโนมัติ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ผู้บริหาร Monitor &amp; Approve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6: PROMPT ENGINEERING LAB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ทำไม 90% ของ Prompt ทั่วไปถึงล้มเหลว?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81447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724247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[ถามสั้นๆ] ❌ Prompt ทั่วไป (ผลลัพธ์เป็นศูนย์)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'ช่วยทำการตลาดร้านกาแฟหน่อย'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'ช่วยคิดวิธีเพิ่มยอดขาย 20%'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ผลลัพธ์: คำตอบกว้างๆ ทั่วไป นำไปใช้จริงไม่ได้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181447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938528"/>
            <a:ext cx="4724247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[RTCF] ✅ Prompt สาย AI MBA (RTCF)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กำหนด Role + Context + Task + Format ชัดเจน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ร้อยเรียงโมเดลธุรกิจ (SWOT + BCG + ERRC)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ผลลัพธ์: บทวิเคราะห์ระดับ McKinsey พร้อมแผน 90 วัน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6: PROMPT ENGINEERING LAB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โครงสร้าง RTCF: 4 เสาหลักสั่งการ AI ระดับผู้บริหาร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[R] R — Role (บทบาท)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สวมหมวกความเชี่ยวชาญให้ AI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เช่น: ประธานที่ปรึกษากลยุทธ์ / CMO / แพทย์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93852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[C] C — Context (บริบท)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ข้อมูลธุรกิจ จุดแข็ง ปัญหา คู่แข่ง และเป้าหมาย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ยิ่งบริบทคม คำตอบยิ่งทรงพลัง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1596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C1515"/>
                </a:solidFill>
                <a:latin typeface="Arial"/>
              </a:defRPr>
            </a:pPr>
            <a:r>
              <a:t>[T] T — Task (ภารกิจ)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คำสั่งและโมเดลธุรกิจที่ต้องใช้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บังคับวิเคราะห์ตามกรอบ SWOT, BCG, ERRC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411480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31596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369A1"/>
                </a:solidFill>
                <a:latin typeface="Arial"/>
              </a:defRPr>
            </a:pPr>
            <a:r>
              <a:t>[F] F — Format (รูปแบบ)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ต้องการผลลัพธ์แบบใด (ตารางสรุป / แผน 90 วัน)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ภาษาทางการระดับ C-Suite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6: PROMPT ENGINEERING LAB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Graph of Thoughts (GoT): พลังคิดหลายมิติและฟันธงมติ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[1. แตกแขนง] 1. Diverge (สร้างทางเลือก)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สร้างกลยุทธ์ 3-5 ทางที่แตกต่างกัน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เปิดรับมุมมองที่ขัดแย้งป้องกัน Groupthink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7778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C1515"/>
                </a:solidFill>
                <a:latin typeface="Arial"/>
              </a:defRPr>
            </a:pPr>
            <a:r>
              <a:t>[2. หักล้าง] 2. Evaluate (ประเมินจุดอ่อน)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นำมุมมองการเงินหักล้างมุมมองการตลาด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ค้นหาจุดเสี่ยงที่ซ่อนอยู่ของแต่ละแผน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5436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47857"/>
                </a:solidFill>
                <a:latin typeface="Arial"/>
              </a:defRPr>
            </a:pPr>
            <a:r>
              <a:t>[3. ฟันธง] 3. Synthesize (มติชี้ขาด)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สังเคราะห์เป็น 1 กลยุทธ์ที่ดีที่สุด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ระบุ Confidence Score % และแผนฉุกเฉิน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6: PROMPT ENGINEERING LAB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4 สูตรสำเร็จรูป 1-Click Presets ในสตูดิโอ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B45309"/>
                </a:solidFill>
                <a:latin typeface="Arial"/>
              </a:defRPr>
            </a:pPr>
            <a:r>
              <a:t>[PRESET 1] ☕ คาเฟ่ &amp; โรงคั่วพรีเมียม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โจทย์: โดนตัดราคา GP เดลิเวอรีสูง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เป้าหมาย: เพิ่ม B2B 40% และ Subscription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93852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369A1"/>
                </a:solidFill>
                <a:latin typeface="Arial"/>
              </a:defRPr>
            </a:pPr>
            <a:r>
              <a:t>[PRESET 2] 🏥 คลินิกสุขภาพ &amp; ชะลอวัย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โจทย์: ค่าแอดแพง รพ.ใหญ่เปิดแข่ง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เป้าหมาย: แพ็กเกจสมาชิกรายปี 200 ราย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1596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C1515"/>
                </a:solidFill>
                <a:latin typeface="Arial"/>
              </a:defRPr>
            </a:pPr>
            <a:r>
              <a:t>[PRESET 3] 🚀 สตาร์ทอัพ AI SaaS บัญชี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โจทย์: สำนักงานบัญชียึดติดกระดาษ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เป้าหมาย: เจาะ 1,000 แห่ง สร้าง $1M ARR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411480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31596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[PRESET 4] 🛍️ แบรนด์แฟชั่น Omnichannel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โจทย์: เสื้อผ้าจีนตัดราคา สต็อกค้าง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เป้าหมาย: ยกระดับสู่ตลาดพรีเมียม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6: PROMPT ENGINEERING LAB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Live Demo: สร้าง Mega-Prompt ใน 60 วินาที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[ขั้น 1] 1. กรอกบริบทธุรกิจ (C)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อาชีพ ประเภทธุรกิจ จุดแข็ง ปัญหา และเป้าหมาย 6-12 เดือน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7778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B45309"/>
                </a:solidFill>
                <a:latin typeface="Arial"/>
              </a:defRPr>
            </a:pPr>
            <a:r>
              <a:t>[ขั้น 2] 2. ติ๊กเลือกโมเดล (T)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ติ๊กเลือก SWOT + TOWS + BCG + Blue Ocean + GoT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5436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47857"/>
                </a:solidFill>
                <a:latin typeface="Arial"/>
              </a:defRPr>
            </a:pPr>
            <a:r>
              <a:t>[ขั้น 3] 3. 1-Click Launch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กดปุ่ม Copy หรือ Quick Launch ส่งตรงเข้า ChatGPT / Claude / Gemini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7: LIVE EXECUTIVE SIMULATION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เคสจำลองสด: ผ่าตัดธุรกิจ Apex Retail 8 สาขา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81447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724247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[สถานการณ์] ข้อมูลบริษัท 'Apex Retail'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ธุรกิจไลฟ์สไตล์และกาแฟพรีเมียม 8 สาขา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ยอดขาย 120 ล้าน/ปี กำไรสุทธิลดเหลือ 6%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วิกฤต: สินค้าจีนตัดราคา ค่าเช่าห้างพุ่ง ลูกค้าซื้อผ่าน TikTok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181447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938528"/>
            <a:ext cx="4724247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[เป้าหมาย] ภารกิจของผู้บริหาร (Mission)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1. ฟื้นฟูกำไรสุทธิกลับสู่ระดับ 15%+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2. สร้างรายได้ประจำแบบ B2B Subscription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3. สร้างระบบ Omnichannel ขับเคลื่อนด้วย AI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7: LIVE EXECUTIVE SIMULATION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Step 1 &amp; 2: แปลง SWOT สู่ TOWS Action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47857"/>
                </a:solidFill>
                <a:latin typeface="Arial"/>
              </a:defRPr>
            </a:pPr>
            <a:r>
              <a:t>[SO: รุก] SO Strategy (เติบโต)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ใช้จุดแข็งทีมคั่วกาแฟรางวัล ขยายตลาด B2B Office Coffee Subscription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93852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[WO: แก้] WO Strategy (ปรับทิศ)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ใช้ AI อัตโนมัติทำ Live Commerce เจาะ TikTok โดยไม่ต้องจ้างเอเจนซี่แพง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1596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B45309"/>
                </a:solidFill>
                <a:latin typeface="Arial"/>
              </a:defRPr>
            </a:pPr>
            <a:r>
              <a:t>[ST: ป้อง] ST Strategy (ป้องกัน)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ชูมาตรฐานและบริการเฉพาะบุคคล สู้กับสินค้าราคาถูกจากจีน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4114800"/>
            <a:ext cx="5181447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315968"/>
            <a:ext cx="4724247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[WT: รับ] WT Strategy (ปรับลด)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ปิด 2 สาขาห้างที่ขาดทุน ลดภาระค่าเช่าคงที่ทันที 350,000 บาท/เดือน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7: LIVE EXECUTIVE SIMULATION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Step 3 &amp; 4: จัดพอร์ต BCG และสร้าง Blue Ocean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81447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724247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[BCG] จัดพอร์ตสินค้า BCG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⭐ Stars: B2B Office Subscription ➔ ทุ่มขยาย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🐮 Cash Cows: หน้าร้าน 4 สาขาหลัก ➔ เก็บเงินสด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❓ Question: สินค้านำเข้า ➔ ทำ Dropship ลดสต็อก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🐶 Dogs: เบเกอรี่สดเหลือทิ้งสูง ➔ ตัดทิ้งทันที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181447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938528"/>
            <a:ext cx="4724247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369A1"/>
                </a:solidFill>
                <a:latin typeface="Arial"/>
              </a:defRPr>
            </a:pPr>
            <a:r>
              <a:t>[ERRC] สร้างน่านน้ำใหม่ Blue Ocean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🚫 ตัดทิ้ง: พื้นที่นั่งแช่ขนาดใหญ่ในห้าง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📉 ลดลง: การยิงแอดเฟซบุ๊กทั่วไป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📈 เพิ่มขึ้น: คุณภาพคั่วสดตามสั่ง (Custom Roast)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✨ สร้างใหม่: แพลตฟอร์ม AI Barista แนะนำเมล็ดเฉพาะคน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7: LIVE EXECUTIVE SIMULATION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Step 5: มติชี้ขาดบอร์ดบริหาร (GoT Verdict - 94%)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10271455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[มติเอกฉันท์] ยุทธศาสตร์ชี้ขาด: 'B2B Premium Pivot &amp; Lean Omnichannel'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1. ปิด 2 สาขาห้างที่ขาดทุนใน 45 วัน ปลดล็อกกระแสเงินสด 350,000 บาท/เดือน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2. เปิดตัว 'Executive Coffee Lab Subscription' เจาะอาคารออฟฟิศเกรด A จำนวน 50 แห่ง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3. ใช้ AI ปรับแต่งรสชาติกาแฟตามความชอบของผู้บริหารแต่ละบริษัท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4. เกณฑ์วัดผล 60 วันแรก: ต้องปิดยอดจอง B2B ไม่ต่ำกว่า 15 บัญชี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7: LIVE EXECUTIVE SIMULATION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3 กฎเหล็กอ่านผลลัพธ์ AI เยี่ยง McKinsey Partner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[1. ตรวจสอบ] 1. Sanity Check สมมติฐาน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ตัวเลขสมเหตุสมผลกับตลาดจริงไหม?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มีต้นทุนแฝงหรือข้อกฎหมายใดที่ AI มองข้าม?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อย่าเชื่อจนกว่าจะได้ Verify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7778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[2. ความพร้อม] 2. People &amp; Culture Fit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ทีมงานมีทักษะพร้อมรับแผนนี้ไหม?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ต้องอบรมทักษะ AI อะไรเพิ่ม?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วัฒนธรรมองค์กรพร้อมรับความเร็วระดับนี้ไหม?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5436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47857"/>
                </a:solidFill>
                <a:latin typeface="Arial"/>
              </a:defRPr>
            </a:pPr>
            <a:r>
              <a:t>[3. ตัวชี้วัด] 3. แปลงสู่ OKRs และ KPIs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แปลงกลยุทธ์สู่ตัวชี้วัดรายสัปดาห์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กำหนดผู้รับผิดชอบหลักเพียงคนเดียว (Single Owner)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ประชุม 15 นาทีติดตามผลทุกเช้า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8: EXECUTION &amp; THE HUMAN MOAT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แผนขับเคลื่อน AI องค์กรใน 90 วัน (3-Horizon Roadmap)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[วัน 1 - 30] Horizon 1: Quick Wins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ติดตั้ง AI Co-pilot ให้ผู้บริหารทุกคน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อบรม RTCF Prompt Lab ทั้งองค์กร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ลดเวลาทำเอกสารและรายงานประจำ 50%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7778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C1515"/>
                </a:solidFill>
                <a:latin typeface="Arial"/>
              </a:defRPr>
            </a:pPr>
            <a:r>
              <a:t>[วัน 31 - 60] Horizon 2: Process Redesign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ขจัดคอขวด 3 จุดใหญ่ในห่วงโซ่คุณค่า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ทดสอบโครงการนำร่อง AI บริการลูกค้า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วัดผล ROI และ Unit Economics ชัดเจน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737360"/>
            <a:ext cx="3393338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5436" y="1938528"/>
            <a:ext cx="2936138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47857"/>
                </a:solidFill>
                <a:latin typeface="Arial"/>
              </a:defRPr>
            </a:pPr>
            <a:r>
              <a:t>[วัน 61 - 90] Horizon 3: Institutional Moat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ติดตั้ง AI Agents ทำงานอัตโนมัติข้ามแผนก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สร้าง Data Lake เทรน AI เฉพาะของบริษัท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ยกระดับสู่ Level 4 Autonomous Enterprise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8: EXECUTION &amp; THE HUMAN MOAT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จัดโครงสร้างทีมงานใหม่: จาก Pyramid สู่ Hybrid Pods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81447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724247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4748B"/>
                </a:solidFill>
                <a:latin typeface="Arial"/>
              </a:defRPr>
            </a:pPr>
            <a:r>
              <a:t>[เดิม] พีระมิดแบบเดิม (ช้าและแยกส่วน)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แบ่งตามแผนก ข้อมูลส่งต่อช้า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ผู้บริหารระดับกลางคอยส่งผ่านข้อมูล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ตอบสนองต่อการเปลี่ยนแปลงตลาดช้า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181447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938528"/>
            <a:ext cx="4724247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369A1"/>
                </a:solidFill>
                <a:latin typeface="Arial"/>
              </a:defRPr>
            </a:pPr>
            <a:r>
              <a:t>[ใหม่] Hybrid Pods (เร็วขึ้น 10 เท่า)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ทีมเล็ก 3-5 คน ขับเคลื่อนด้วย AI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พนักงาน 1 คน มีทักษะ Full-Stack (คิด + วิเคราะห์ + ทำสื่อ)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ผู้บริหารทำหน้าที่เป็น Coach ไม่ใช่ผู้คุม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0000"/>
                </a:solidFill>
                <a:latin typeface="Arial"/>
              </a:defRPr>
            </a:pPr>
            <a:r>
              <a:t>ปราการความได้เปรียบสุดท้ายของมนุษย์ (THE HUMAN MOAT)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F172A"/>
                </a:solidFill>
                <a:latin typeface="Arial"/>
              </a:defRPr>
            </a:pPr>
            <a:r>
              <a:t>“ในวันที่ความฉลาดของ AI มีอยู่ล้นเหลือ...</a:t>
            </a:r>
            <a:br/>
            <a:r>
              <a:t>วิจารณญาณ (Judgment),</a:t>
            </a:r>
            <a:br/>
            <a:r>
              <a:t>ความเข้าอกเข้าใจ (Empathy),</a:t>
            </a:r>
            <a:br/>
            <a:r>
              <a:t>และ รสนิยม (Taste)</a:t>
            </a:r>
            <a:br/>
            <a:r>
              <a:t>คือ 3 สิ่งล้ำค่าที่ AI ลอกเลียนไม่ได้!”</a:t>
            </a:r>
          </a:p>
          <a:p>
            <a:pPr>
              <a:spcBef>
                <a:spcPts val="1200"/>
              </a:spcBef>
              <a:defRPr sz="1800" b="1">
                <a:solidFill>
                  <a:srgbClr val="B45309"/>
                </a:solidFill>
                <a:latin typeface="Arial"/>
              </a:defRPr>
            </a:pPr>
            <a:r>
              <a:t>ยิ่ง AI ฉลาดขึ้นเท่าไร... ความเป็นมนุษย์ของผู้นำยิ่งมีมูลค่าสูงขึ้นเท่านั้น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0000"/>
                </a:solidFill>
                <a:latin typeface="Arial"/>
              </a:defRPr>
            </a:pPr>
            <a:r>
              <a:t>MODULE 8: EXECUTION &amp; THE HUMAN MOAT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rial"/>
              </a:defRPr>
            </a:pPr>
            <a:r>
              <a:t>10 บัญญัติ AI MBA สรุปย่อสำหรับห้องประชุมบอร์ด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36192"/>
            <a:ext cx="10728655" cy="2743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81447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4724247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[ข้อ 1 - 5] ด้านวิธีคิดและกลยุทธ์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1. AI เป็นเรื่องของผู้นำ ไม่ใช่ไอที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2. การรอนิ่ง คือการรอให้คู่แข่งแซง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3. ลองทำ 10 ครั้ง ดีกว่าฟัง 100 ชม.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4. สั่งการด้วยกรอบ RTCF เสมอ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5. ผสานโมเดลธุรกิจข้ามสถาบัน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181447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938528"/>
            <a:ext cx="4724247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C77"/>
                </a:solidFill>
                <a:latin typeface="Arial"/>
              </a:defRPr>
            </a:pPr>
            <a:r>
              <a:t>[ข้อ 6 - 10] ด้านการปฏิบัติและการเงิน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6. คำนวณ Unit Economics และ ROI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7. เปลี่ยนแผน 6 เดือน สู่ 7 วัน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8. ขจัดคอขวดด้วย AI Automation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9. วาง AI Governance และความปลอดภัย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10. รักษา Human Moat: วิจารณญาณและรสนิยม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0000"/>
                </a:solidFill>
                <a:latin typeface="Arial"/>
              </a:defRPr>
            </a:pPr>
            <a:r>
              <a:t>เริ่มต้นก้าวสู่ผู้นำยุค AI วันนี้  |  EXECUTIVE WORKSHOP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F172A"/>
                </a:solidFill>
                <a:latin typeface="Arial"/>
              </a:defRPr>
            </a:pPr>
            <a:r>
              <a:t>ก้าวสู่ผู้นำยุคใหม่ เริ่มต้นทดลองจริงได้ตั้งแต่วันนี้</a:t>
            </a:r>
          </a:p>
          <a:p>
            <a:pPr>
              <a:spcBef>
                <a:spcPts val="1200"/>
              </a:spcBef>
              <a:defRPr sz="1800" b="1">
                <a:solidFill>
                  <a:srgbClr val="475569"/>
                </a:solidFill>
                <a:latin typeface="Arial"/>
              </a:defRPr>
            </a:pPr>
            <a:r>
              <a:t>AI MBA Executive Masterclass โดย อาจารย์ชีพธรรม คำวิเศษณ์ &amp; FastAI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0"/>
            <a:ext cx="3393338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4041648"/>
            <a:ext cx="2936138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[หนังสือ] 📖 หนังสือ AI MBA (22 บท)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อ่านฉบับเต็มออนไลน์ฟรี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aimba.cheeptham.com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3840480"/>
            <a:ext cx="3393338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27778" y="4041648"/>
            <a:ext cx="2936138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[สตูดิโอ] ⚡ AI MBA Prompt Lab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สร้าง Mega-Prompt 1 คลิก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aimba.cheeptham.com/prompt-lab.html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3840480"/>
            <a:ext cx="3393338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5436" y="4041648"/>
            <a:ext cx="2936138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t>[ติดต่อ] 🤝 อ.ชีพธรรม &amp; FastAI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บรรยายพิเศษ &amp; Coaching</a:t>
            </a:r>
          </a:p>
          <a:p>
            <a:pPr>
              <a:spcAft>
                <a:spcPts val="800"/>
              </a:spcAft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YouTube / FB / X: @tri333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